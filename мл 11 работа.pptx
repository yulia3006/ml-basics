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59515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291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39629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00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177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56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72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815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8890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53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25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68BBB61-BBF9-43B6-A79F-361B807A5041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A3D11FA-0A5D-4D5E-8A00-D71DDFF3105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962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2BE99-64F4-4663-A650-F3D40B1FC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112" y="3116062"/>
            <a:ext cx="9765436" cy="2778711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effectLst/>
              </a:rPr>
              <a:t>Анализ и сегментация клиентов с помощью алгоритмов кластеризации</a:t>
            </a:r>
            <a:br>
              <a:rPr lang="ru-RU" sz="4400" dirty="0">
                <a:effectLst/>
              </a:rPr>
            </a:br>
            <a:r>
              <a:rPr lang="ru-RU" sz="4400" dirty="0">
                <a:effectLst/>
              </a:rPr>
              <a:t>Практическая работа </a:t>
            </a:r>
            <a:r>
              <a:rPr lang="ru-RU" sz="4000" dirty="0">
                <a:effectLst/>
              </a:rPr>
              <a:t>№11</a:t>
            </a:r>
            <a:br>
              <a:rPr lang="ru-RU" dirty="0">
                <a:effectLst/>
              </a:rPr>
            </a:b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2BA891-E3A5-4663-8206-732724BD0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346" y="5894773"/>
            <a:ext cx="9144000" cy="1655762"/>
          </a:xfrm>
        </p:spPr>
        <p:txBody>
          <a:bodyPr/>
          <a:lstStyle/>
          <a:p>
            <a:pPr algn="r">
              <a:lnSpc>
                <a:spcPct val="300000"/>
              </a:lnSpc>
            </a:pPr>
            <a:r>
              <a:rPr lang="ru-RU" dirty="0"/>
              <a:t>Бочкарев Юлия Александровна 2024-ФГиИБ-ПИ-1б</a:t>
            </a:r>
          </a:p>
        </p:txBody>
      </p:sp>
    </p:spTree>
    <p:extLst>
      <p:ext uri="{BB962C8B-B14F-4D97-AF65-F5344CB8AC3E}">
        <p14:creationId xmlns:p14="http://schemas.microsoft.com/office/powerpoint/2010/main" val="157312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26B8C-A574-4B53-9F5D-B83EB7B4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0290" y="-586433"/>
            <a:ext cx="9612971" cy="2852737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Цель и задачи работы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85768E-1345-4341-8996-31CF8446A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70" y="1386347"/>
            <a:ext cx="11400503" cy="5368413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>
                <a:effectLst/>
              </a:rPr>
              <a:t>Цель: </a:t>
            </a:r>
            <a:r>
              <a:rPr lang="ru-RU" dirty="0">
                <a:effectLst/>
              </a:rPr>
              <a:t>Разработать систему сегментации клиентов розничной компании с использованием алгоритмов кластеризации.</a:t>
            </a:r>
          </a:p>
          <a:p>
            <a:pPr algn="l"/>
            <a:r>
              <a:rPr lang="ru-RU" sz="3600" b="1" dirty="0">
                <a:effectLst/>
              </a:rPr>
              <a:t>Задачи: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Сбор и анализ данных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 Предобработка данных и RFM-анализ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Применение алгоритмов кластеризации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 Оценка качества кластеризации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Визуализация и интерпретация результатов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Формирование бизнес-рекомендаций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95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51EC5C-EAA4-4725-B19E-5908CF5D9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8807" y="-438950"/>
            <a:ext cx="9612971" cy="2852737"/>
          </a:xfrm>
        </p:spPr>
        <p:txBody>
          <a:bodyPr/>
          <a:lstStyle/>
          <a:p>
            <a:r>
              <a:rPr lang="ru-RU" dirty="0">
                <a:effectLst/>
              </a:rPr>
              <a:t>Описание </a:t>
            </a:r>
            <a:r>
              <a:rPr lang="ru-RU" dirty="0" err="1">
                <a:effectLst/>
              </a:rPr>
              <a:t>датасета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06FFB9-98CD-4BEF-A30F-93245F847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742" y="2004704"/>
            <a:ext cx="11282516" cy="4468762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 err="1">
                <a:effectLst/>
              </a:rPr>
              <a:t>Датасет</a:t>
            </a:r>
            <a:r>
              <a:rPr lang="ru-RU" sz="3600" b="1" dirty="0">
                <a:effectLst/>
              </a:rPr>
              <a:t>: </a:t>
            </a:r>
            <a:r>
              <a:rPr lang="en-US" dirty="0">
                <a:effectLst/>
              </a:rPr>
              <a:t>Online Retail II (UCI Machine Learning Repository)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Период: декабрь 2009 – декабрь 2010 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Количество транзакций: ~525 000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 Количество уникальных клиентов: ~4 383</a:t>
            </a:r>
          </a:p>
          <a:p>
            <a:pPr marL="342900" indent="-342900" algn="l">
              <a:buFontTx/>
              <a:buChar char="-"/>
            </a:pPr>
            <a:r>
              <a:rPr lang="ru-RU" dirty="0">
                <a:effectLst/>
              </a:rPr>
              <a:t> Ключевые поля: </a:t>
            </a:r>
            <a:r>
              <a:rPr lang="en-US" dirty="0" err="1">
                <a:effectLst/>
              </a:rPr>
              <a:t>CustomerID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InvoiceDate</a:t>
            </a:r>
            <a:r>
              <a:rPr lang="en-US" dirty="0">
                <a:effectLst/>
              </a:rPr>
              <a:t>, Quantity, Price, Country</a:t>
            </a:r>
            <a:endParaRPr lang="ru-RU" dirty="0">
              <a:effectLst/>
            </a:endParaRPr>
          </a:p>
          <a:p>
            <a:pPr algn="l"/>
            <a:endParaRPr lang="en-US" dirty="0">
              <a:effectLst/>
            </a:endParaRPr>
          </a:p>
          <a:p>
            <a:pPr algn="l"/>
            <a:r>
              <a:rPr lang="ru-RU" sz="3600" dirty="0">
                <a:effectLst/>
              </a:rPr>
              <a:t>Особенность: </a:t>
            </a:r>
            <a:r>
              <a:rPr lang="ru-RU" dirty="0">
                <a:effectLst/>
              </a:rPr>
              <a:t>Реальные данные интернет-магазина (Великобритания)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978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A75BE-9C65-49DA-B746-8D409747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97" y="0"/>
            <a:ext cx="9601200" cy="1485900"/>
          </a:xfrm>
        </p:spPr>
        <p:txBody>
          <a:bodyPr/>
          <a:lstStyle/>
          <a:p>
            <a:r>
              <a:rPr lang="ru-RU" sz="3600" dirty="0">
                <a:effectLst/>
              </a:rPr>
              <a:t>Первичный анализ данных (</a:t>
            </a:r>
            <a:r>
              <a:rPr lang="en-US" sz="3600" dirty="0">
                <a:effectLst/>
              </a:rPr>
              <a:t>EDA)</a:t>
            </a:r>
            <a:br>
              <a:rPr lang="en-US" dirty="0">
                <a:effectLst/>
              </a:rPr>
            </a:b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E31B94-30D2-47E9-84C1-BBEB8F239E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650" y="493246"/>
            <a:ext cx="9579276" cy="636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6690BF-FEAF-4FAE-8111-226E5BD296CF}"/>
              </a:ext>
            </a:extLst>
          </p:cNvPr>
          <p:cNvSpPr txBox="1"/>
          <p:nvPr/>
        </p:nvSpPr>
        <p:spPr>
          <a:xfrm>
            <a:off x="859653" y="547641"/>
            <a:ext cx="19086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effectLst/>
              </a:rPr>
              <a:t>Основные выводы:</a:t>
            </a:r>
            <a:br>
              <a:rPr lang="ru-RU" sz="2400" b="1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  <a:t>- Сильно скошенное распределение суммы чека 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  <a:t> - Выручка сильно сконцентрирована на небольшом числе товаров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  <a:t> - Большинство клиентов совершают небольшое количество покупок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</a:rPr>
              <a:t> - Присутствуют аномально крупные заказы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37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D87B05-ED07-461E-97B0-EE30E7CFFE04}"/>
              </a:ext>
            </a:extLst>
          </p:cNvPr>
          <p:cNvSpPr txBox="1"/>
          <p:nvPr/>
        </p:nvSpPr>
        <p:spPr>
          <a:xfrm>
            <a:off x="896645" y="97654"/>
            <a:ext cx="582375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effectLst/>
              </a:rPr>
              <a:t>Предобработка данных</a:t>
            </a:r>
          </a:p>
          <a:p>
            <a:r>
              <a:rPr lang="ru-RU" dirty="0">
                <a:effectLst/>
              </a:rPr>
              <a:t>Выполненные действия:</a:t>
            </a:r>
          </a:p>
          <a:p>
            <a:r>
              <a:rPr lang="ru-RU" dirty="0">
                <a:effectLst/>
              </a:rPr>
              <a:t>-    Удалены пропуски в `</a:t>
            </a:r>
            <a:r>
              <a:rPr lang="ru-RU" dirty="0" err="1">
                <a:effectLst/>
              </a:rPr>
              <a:t>CustomerID</a:t>
            </a:r>
            <a:r>
              <a:rPr lang="ru-RU" dirty="0">
                <a:effectLst/>
              </a:rPr>
              <a:t>`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Удалены возвраты и некорректные цены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Создан RFM-анализ (</a:t>
            </a:r>
            <a:r>
              <a:rPr lang="ru-RU" dirty="0" err="1">
                <a:effectLst/>
              </a:rPr>
              <a:t>Recency</a:t>
            </a:r>
            <a:r>
              <a:rPr lang="ru-RU" dirty="0">
                <a:effectLst/>
              </a:rPr>
              <a:t>, </a:t>
            </a:r>
            <a:r>
              <a:rPr lang="ru-RU" dirty="0" err="1">
                <a:effectLst/>
              </a:rPr>
              <a:t>Frequency</a:t>
            </a:r>
            <a:r>
              <a:rPr lang="ru-RU" dirty="0">
                <a:effectLst/>
              </a:rPr>
              <a:t>, </a:t>
            </a:r>
            <a:r>
              <a:rPr lang="ru-RU" dirty="0" err="1">
                <a:effectLst/>
              </a:rPr>
              <a:t>Monetary</a:t>
            </a:r>
            <a:r>
              <a:rPr lang="ru-RU" dirty="0">
                <a:effectLst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Добавлен признак среднего чека (`</a:t>
            </a:r>
            <a:r>
              <a:rPr lang="ru-RU" dirty="0" err="1">
                <a:effectLst/>
              </a:rPr>
              <a:t>AvgOrderValue</a:t>
            </a:r>
            <a:r>
              <a:rPr lang="ru-RU" dirty="0">
                <a:effectLst/>
              </a:rPr>
              <a:t>`)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Выполнено масштабирование признаков (`</a:t>
            </a:r>
            <a:r>
              <a:rPr lang="ru-RU" dirty="0" err="1">
                <a:effectLst/>
              </a:rPr>
              <a:t>StandardScaler</a:t>
            </a:r>
            <a:r>
              <a:rPr lang="ru-RU" dirty="0">
                <a:effectLst/>
              </a:rPr>
              <a:t>`)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AA42C-F880-4BFA-89E3-5A941CA5FE9D}"/>
              </a:ext>
            </a:extLst>
          </p:cNvPr>
          <p:cNvSpPr txBox="1"/>
          <p:nvPr/>
        </p:nvSpPr>
        <p:spPr>
          <a:xfrm>
            <a:off x="6471822" y="113891"/>
            <a:ext cx="57201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effectLst/>
              </a:rPr>
              <a:t>Определение оптимального числа кластеров</a:t>
            </a:r>
          </a:p>
          <a:p>
            <a:r>
              <a:rPr lang="ru-RU" dirty="0">
                <a:effectLst/>
              </a:rPr>
              <a:t>Методы:</a:t>
            </a:r>
          </a:p>
          <a:p>
            <a:r>
              <a:rPr lang="ru-RU" dirty="0">
                <a:effectLst/>
              </a:rPr>
              <a:t> - Метод локтя (</a:t>
            </a:r>
            <a:r>
              <a:rPr lang="ru-RU" dirty="0" err="1">
                <a:effectLst/>
              </a:rPr>
              <a:t>Elbow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Method</a:t>
            </a:r>
            <a:r>
              <a:rPr lang="ru-RU" dirty="0">
                <a:effectLst/>
              </a:rPr>
              <a:t>)</a:t>
            </a:r>
          </a:p>
          <a:p>
            <a:r>
              <a:rPr lang="ru-RU" dirty="0">
                <a:effectLst/>
              </a:rPr>
              <a:t> - Коэффициент силуэта (</a:t>
            </a:r>
            <a:r>
              <a:rPr lang="ru-RU" dirty="0" err="1">
                <a:effectLst/>
              </a:rPr>
              <a:t>Silhouette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Score</a:t>
            </a:r>
            <a:r>
              <a:rPr lang="ru-RU" dirty="0">
                <a:effectLst/>
              </a:rPr>
              <a:t>)</a:t>
            </a:r>
          </a:p>
          <a:p>
            <a:r>
              <a:rPr lang="ru-RU" dirty="0">
                <a:effectLst/>
              </a:rPr>
              <a:t>Вывод: Оптимальное количество кластеров = 4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19E947-C58A-4A92-A662-DED735597960}"/>
              </a:ext>
            </a:extLst>
          </p:cNvPr>
          <p:cNvSpPr/>
          <p:nvPr/>
        </p:nvSpPr>
        <p:spPr>
          <a:xfrm>
            <a:off x="6396362" y="0"/>
            <a:ext cx="97654" cy="2752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F30A0B-6DEC-4DCC-8239-CA7591B31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199" y="2668371"/>
            <a:ext cx="8971787" cy="418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25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75123-946A-4443-93F8-85D436CF28B0}"/>
              </a:ext>
            </a:extLst>
          </p:cNvPr>
          <p:cNvSpPr txBox="1"/>
          <p:nvPr/>
        </p:nvSpPr>
        <p:spPr>
          <a:xfrm>
            <a:off x="745724" y="17755"/>
            <a:ext cx="17133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effectLst/>
              </a:rPr>
              <a:t>Визуализация кластеров</a:t>
            </a:r>
          </a:p>
          <a:p>
            <a:r>
              <a:rPr lang="ru-RU" dirty="0">
                <a:effectLst/>
              </a:rPr>
              <a:t>Применён</a:t>
            </a:r>
            <a:r>
              <a:rPr lang="ru-RU" b="1" dirty="0">
                <a:effectLst/>
              </a:rPr>
              <a:t> </a:t>
            </a:r>
            <a:r>
              <a:rPr lang="ru-RU" dirty="0">
                <a:effectLst/>
              </a:rPr>
              <a:t>алгоритм снижения размерности: t-SNE</a:t>
            </a:r>
          </a:p>
          <a:p>
            <a:r>
              <a:rPr lang="ru-RU" dirty="0">
                <a:effectLst/>
              </a:rPr>
              <a:t>Вывод: Кластеры хорошо разделимы</a:t>
            </a:r>
          </a:p>
          <a:p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339C5E8-B027-4D06-A775-5075EB34C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10" y="17755"/>
            <a:ext cx="9821890" cy="684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15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5E3645-7CA3-48D1-934B-EC9F2EE8FCD9}"/>
              </a:ext>
            </a:extLst>
          </p:cNvPr>
          <p:cNvSpPr txBox="1"/>
          <p:nvPr/>
        </p:nvSpPr>
        <p:spPr>
          <a:xfrm>
            <a:off x="807868" y="0"/>
            <a:ext cx="332024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effectLst/>
              </a:rPr>
              <a:t>Оценка качества кластеризации</a:t>
            </a:r>
          </a:p>
          <a:p>
            <a:r>
              <a:rPr lang="ru-RU" dirty="0">
                <a:effectLst/>
              </a:rPr>
              <a:t>Внутренние метрики: </a:t>
            </a:r>
          </a:p>
          <a:p>
            <a:pPr marL="285750" indent="-285750">
              <a:buFontTx/>
              <a:buChar char="-"/>
            </a:pPr>
            <a:r>
              <a:rPr lang="en-US" dirty="0">
                <a:effectLst/>
              </a:rPr>
              <a:t>Silhouette Score</a:t>
            </a:r>
            <a:endParaRPr lang="ru-RU" dirty="0">
              <a:effectLst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effectLst/>
              </a:rPr>
              <a:t>Davies-Bouldin Index</a:t>
            </a:r>
            <a:endParaRPr lang="ru-RU" dirty="0">
              <a:effectLst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effectLst/>
              </a:rPr>
              <a:t>Calinski-Harabasz</a:t>
            </a:r>
            <a:r>
              <a:rPr lang="en-US" dirty="0">
                <a:effectLst/>
              </a:rPr>
              <a:t> Index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B1830B-4D1F-4E61-8ADB-950D3CF37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14" y="2462213"/>
            <a:ext cx="9720335" cy="376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8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D8876-3C17-4671-AD71-5557C79F895B}"/>
              </a:ext>
            </a:extLst>
          </p:cNvPr>
          <p:cNvSpPr txBox="1"/>
          <p:nvPr/>
        </p:nvSpPr>
        <p:spPr>
          <a:xfrm>
            <a:off x="754602" y="-71021"/>
            <a:ext cx="3018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effectLst/>
              </a:rPr>
              <a:t>Описание сегментов клиентов</a:t>
            </a:r>
          </a:p>
          <a:p>
            <a:r>
              <a:rPr lang="ru-RU" dirty="0">
                <a:effectLst/>
              </a:rPr>
              <a:t>Выделено 4 сегмента:</a:t>
            </a:r>
          </a:p>
          <a:p>
            <a:pPr marL="342900" indent="-342900">
              <a:buAutoNum type="arabicPeriod"/>
            </a:pPr>
            <a:r>
              <a:rPr lang="ru-RU" dirty="0">
                <a:effectLst/>
              </a:rPr>
              <a:t>Лояльные клиенты</a:t>
            </a:r>
          </a:p>
          <a:p>
            <a:pPr marL="342900" indent="-342900">
              <a:buAutoNum type="arabicPeriod"/>
            </a:pPr>
            <a:r>
              <a:rPr lang="ru-RU" dirty="0">
                <a:effectLst/>
              </a:rPr>
              <a:t>Перспективные клиенты</a:t>
            </a:r>
          </a:p>
          <a:p>
            <a:pPr marL="342900" indent="-342900">
              <a:buAutoNum type="arabicPeriod"/>
            </a:pPr>
            <a:r>
              <a:rPr lang="ru-RU" dirty="0">
                <a:effectLst/>
              </a:rPr>
              <a:t>В зоне риска</a:t>
            </a:r>
          </a:p>
          <a:p>
            <a:pPr marL="342900" indent="-342900">
              <a:buAutoNum type="arabicPeriod"/>
            </a:pPr>
            <a:r>
              <a:rPr lang="ru-RU" dirty="0">
                <a:effectLst/>
              </a:rPr>
              <a:t>Потерянные клиенты</a:t>
            </a:r>
          </a:p>
          <a:p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EF8B70D-B110-4D53-A2AC-D3D246AA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40037"/>
            <a:ext cx="12192000" cy="40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C87FCF-5871-48F0-BFB8-4FFBD7AA0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612" y="92337"/>
            <a:ext cx="6758404" cy="257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5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0BBD2-6664-4BB6-89CB-4EB6086E1633}"/>
              </a:ext>
            </a:extLst>
          </p:cNvPr>
          <p:cNvSpPr txBox="1"/>
          <p:nvPr/>
        </p:nvSpPr>
        <p:spPr>
          <a:xfrm>
            <a:off x="878889" y="142042"/>
            <a:ext cx="76081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effectLst/>
              </a:rPr>
              <a:t>Бизнес-рекомендации</a:t>
            </a:r>
          </a:p>
          <a:p>
            <a:endParaRPr lang="ru-RU" sz="3600" dirty="0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BEFD7174-9255-41E4-B967-B0CB0960C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447746"/>
              </p:ext>
            </p:extLst>
          </p:nvPr>
        </p:nvGraphicFramePr>
        <p:xfrm>
          <a:off x="1047404" y="1083076"/>
          <a:ext cx="10839795" cy="555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265">
                  <a:extLst>
                    <a:ext uri="{9D8B030D-6E8A-4147-A177-3AD203B41FA5}">
                      <a16:colId xmlns:a16="http://schemas.microsoft.com/office/drawing/2014/main" val="3672890317"/>
                    </a:ext>
                  </a:extLst>
                </a:gridCol>
                <a:gridCol w="3613265">
                  <a:extLst>
                    <a:ext uri="{9D8B030D-6E8A-4147-A177-3AD203B41FA5}">
                      <a16:colId xmlns:a16="http://schemas.microsoft.com/office/drawing/2014/main" val="1294886351"/>
                    </a:ext>
                  </a:extLst>
                </a:gridCol>
                <a:gridCol w="3613265">
                  <a:extLst>
                    <a:ext uri="{9D8B030D-6E8A-4147-A177-3AD203B41FA5}">
                      <a16:colId xmlns:a16="http://schemas.microsoft.com/office/drawing/2014/main" val="1826678300"/>
                    </a:ext>
                  </a:extLst>
                </a:gridCol>
              </a:tblGrid>
              <a:tr h="694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effectLst/>
                        </a:rPr>
                        <a:t>Сегмент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Основная стратегия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Ключевые действия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721248"/>
                  </a:ext>
                </a:extLst>
              </a:tr>
              <a:tr h="1289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Лояльные клиенты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Удержание и развитие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VIP-</a:t>
                      </a:r>
                      <a:r>
                        <a:rPr lang="ru-RU" dirty="0">
                          <a:effectLst/>
                        </a:rPr>
                        <a:t>программа, персональные предложения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090348"/>
                  </a:ext>
                </a:extLst>
              </a:tr>
              <a:tr h="1289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Перспективные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Стимулирование роста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Акции, бонусы, персональные рекомендации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483786"/>
                  </a:ext>
                </a:extLst>
              </a:tr>
              <a:tr h="9922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В зоне риска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>
                          <a:effectLst/>
                        </a:rPr>
                        <a:t>Реактивация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Скидки на возврат, напоминания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349462"/>
                  </a:ext>
                </a:extLst>
              </a:tr>
              <a:tr h="12899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Потерянные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Win-back </a:t>
                      </a:r>
                      <a:r>
                        <a:rPr lang="ru-RU" dirty="0">
                          <a:effectLst/>
                        </a:rPr>
                        <a:t>кампании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Агрессивные предложения, анализ причин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291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58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36452-423F-4E7E-9F7E-81DC51492D73}"/>
              </a:ext>
            </a:extLst>
          </p:cNvPr>
          <p:cNvSpPr txBox="1"/>
          <p:nvPr/>
        </p:nvSpPr>
        <p:spPr>
          <a:xfrm>
            <a:off x="816746" y="186431"/>
            <a:ext cx="1137525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effectLst/>
              </a:rPr>
              <a:t>Оценка потенциального влияния</a:t>
            </a:r>
          </a:p>
          <a:p>
            <a:r>
              <a:rPr lang="ru-RU" i="1" dirty="0">
                <a:effectLst/>
              </a:rPr>
              <a:t>Ожидаемые результаты: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Рост выручки: 18–35%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Снижение оттока клиентов: 20–30%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Увеличение LTV (</a:t>
            </a:r>
            <a:r>
              <a:rPr lang="ru-RU" dirty="0" err="1">
                <a:effectLst/>
              </a:rPr>
              <a:t>Lifetime</a:t>
            </a:r>
            <a:r>
              <a:rPr lang="ru-RU" dirty="0">
                <a:effectLst/>
              </a:rPr>
              <a:t> Value)</a:t>
            </a:r>
          </a:p>
          <a:p>
            <a:pPr marL="285750" indent="-285750">
              <a:buFontTx/>
              <a:buChar char="-"/>
            </a:pPr>
            <a:r>
              <a:rPr lang="ru-RU" dirty="0">
                <a:effectLst/>
              </a:rPr>
              <a:t>Повышение эффективности маркетингового бюджета</a:t>
            </a:r>
          </a:p>
          <a:p>
            <a:r>
              <a:rPr lang="ru-RU" i="1" dirty="0">
                <a:effectLst/>
              </a:rPr>
              <a:t>Главный эффект: </a:t>
            </a:r>
            <a:r>
              <a:rPr lang="ru-RU" dirty="0">
                <a:effectLst/>
              </a:rPr>
              <a:t>Переход от массового маркетинга к персонализированному</a:t>
            </a:r>
          </a:p>
          <a:p>
            <a:endParaRPr lang="ru-RU" dirty="0"/>
          </a:p>
          <a:p>
            <a:endParaRPr lang="ru-RU" dirty="0">
              <a:effectLst/>
            </a:endParaRPr>
          </a:p>
          <a:p>
            <a:endParaRPr lang="ru-RU" dirty="0"/>
          </a:p>
          <a:p>
            <a:endParaRPr lang="ru-RU" dirty="0">
              <a:effectLst/>
            </a:endParaRPr>
          </a:p>
          <a:p>
            <a:r>
              <a:rPr lang="ru-RU" sz="2800" dirty="0">
                <a:effectLst/>
              </a:rPr>
              <a:t>Заключение</a:t>
            </a:r>
          </a:p>
          <a:p>
            <a:r>
              <a:rPr lang="ru-RU" dirty="0">
                <a:effectLst/>
              </a:rPr>
              <a:t>Итоги работы:</a:t>
            </a:r>
          </a:p>
          <a:p>
            <a:r>
              <a:rPr lang="ru-RU" dirty="0">
                <a:effectLst/>
              </a:rPr>
              <a:t> - Разработана система сегментации клиентов на основе RFM-анализа и алгоритмов кластеризации</a:t>
            </a:r>
          </a:p>
          <a:p>
            <a:r>
              <a:rPr lang="ru-RU" dirty="0">
                <a:effectLst/>
              </a:rPr>
              <a:t> - Получены 4 интерпретируемых сегмента</a:t>
            </a:r>
          </a:p>
          <a:p>
            <a:r>
              <a:rPr lang="ru-RU" dirty="0"/>
              <a:t> </a:t>
            </a:r>
            <a:r>
              <a:rPr lang="ru-RU" dirty="0">
                <a:effectLst/>
              </a:rPr>
              <a:t>- Подготовлены конкретные бизнес-рекомендации</a:t>
            </a:r>
          </a:p>
          <a:p>
            <a:r>
              <a:rPr lang="ru-RU" dirty="0">
                <a:effectLst/>
              </a:rPr>
              <a:t>Значимость:</a:t>
            </a:r>
          </a:p>
          <a:p>
            <a:r>
              <a:rPr lang="ru-RU" dirty="0">
                <a:effectLst/>
              </a:rPr>
              <a:t>Результаты могут быть внедрены в CRM-систему компании для повышения эффективности продаж и лояльности клиентов.</a:t>
            </a:r>
          </a:p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E0605-565C-4AED-9EA5-3B09337DBD9E}"/>
              </a:ext>
            </a:extLst>
          </p:cNvPr>
          <p:cNvSpPr/>
          <p:nvPr/>
        </p:nvSpPr>
        <p:spPr>
          <a:xfrm>
            <a:off x="665825" y="2539014"/>
            <a:ext cx="11526175" cy="3639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21419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46</TotalTime>
  <Words>392</Words>
  <Application>Microsoft Office PowerPoint</Application>
  <PresentationFormat>Широкоэкранный</PresentationFormat>
  <Paragraphs>81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Franklin Gothic Book</vt:lpstr>
      <vt:lpstr>Уголки</vt:lpstr>
      <vt:lpstr>Анализ и сегментация клиентов с помощью алгоритмов кластеризации Практическая работа №11  </vt:lpstr>
      <vt:lpstr>Цель и задачи работы </vt:lpstr>
      <vt:lpstr>Описание датасета </vt:lpstr>
      <vt:lpstr>Первичный анализ данных (EDA)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сегментация клиентов с помощью алгоритмов кластеризации</dc:title>
  <dc:creator>Юлия Бочкарёва</dc:creator>
  <cp:lastModifiedBy>Юлия Бочкарёва</cp:lastModifiedBy>
  <cp:revision>7</cp:revision>
  <dcterms:created xsi:type="dcterms:W3CDTF">2026-05-28T16:07:38Z</dcterms:created>
  <dcterms:modified xsi:type="dcterms:W3CDTF">2026-05-28T16:54:34Z</dcterms:modified>
</cp:coreProperties>
</file>